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Context</a:t>
            </a:r>
          </a:p>
          <a:p>
            <a:r>
              <a:t>• Data Overview</a:t>
            </a:r>
          </a:p>
          <a:p>
            <a:r>
              <a:t>• Zonal Analysis</a:t>
            </a:r>
          </a:p>
          <a:p>
            <a:r>
              <a:t>• State Analysis</a:t>
            </a:r>
          </a:p>
          <a:p>
            <a:r>
              <a:t>• Cube/Channel Analysis</a:t>
            </a:r>
          </a:p>
          <a:p>
            <a:r>
              <a:t>• Insights</a:t>
            </a:r>
          </a:p>
          <a:p>
            <a:r>
              <a:t>• Risks</a:t>
            </a:r>
          </a:p>
          <a:p>
            <a:r>
              <a:t>• Strategy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Evaluate business performance across zones, states and retail channels over 6 years to identify growth drivers and expansion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Duration: 6 Years</a:t>
            </a:r>
          </a:p>
          <a:p>
            <a:r>
              <a:t>• Metric: Business Value (Lacs)</a:t>
            </a:r>
          </a:p>
          <a:p>
            <a:r>
              <a:t>• Dimensions: Zone, State, Cube (Retail Channel)</a:t>
            </a:r>
          </a:p>
          <a:p>
            <a:r>
              <a:t>• Purpose: Strategic planning and performance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Zonal Revenue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Zone – 26487.07 Lacs</a:t>
            </a:r>
          </a:p>
          <a:p>
            <a:r>
              <a:t>West Zone – 3031.38 Lacs</a:t>
            </a:r>
          </a:p>
          <a:p>
            <a:r>
              <a:t>Central Zone – 1442.09 Lacs</a:t>
            </a:r>
          </a:p>
          <a:p>
            <a:r>
              <a:t>South Zone – 922.96 Lacs</a:t>
            </a:r>
          </a:p>
          <a:p>
            <a:r>
              <a:t>East Zone – 922.03 Lacs</a:t>
            </a:r>
          </a:p>
          <a:p>
            <a:r>
              <a:t>North East Zone – 631.01 Lacs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North Zone dominates revenue</a:t>
            </a:r>
          </a:p>
          <a:p>
            <a:r>
              <a:t>• West Zone shows moderate presence</a:t>
            </a:r>
          </a:p>
          <a:p>
            <a:r>
              <a:t>• South/East/North East remain underpenetrated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Zonal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concentration risk due to heavy dependency on North Zone. Diversification is recommended.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States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Delhi – 7084.88 Lacs</a:t>
            </a:r>
          </a:p>
          <a:p>
            <a:r>
              <a:t>Punjab – 5268.72 Lacs</a:t>
            </a:r>
          </a:p>
          <a:p>
            <a:r>
              <a:t>Haryana – 3659.01 Lacs</a:t>
            </a:r>
          </a:p>
          <a:p>
            <a:r>
              <a:t>UP West – 2982.23 Lacs</a:t>
            </a:r>
          </a:p>
          <a:p>
            <a:r>
              <a:t>Chandigarh – 2048.38 Lacs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Cluster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Northern urban markets are key drivers due to higher purchasing power and strong retail distribution.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State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Maharashtra, Gujarat, Karnataka and Tamil Nadu show potential for future expansion.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Cube / Channel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EBO – 17400.32 Lacs</a:t>
            </a:r>
          </a:p>
          <a:p>
            <a:r>
              <a:t>SIS – 8754.01 Lacs</a:t>
            </a:r>
          </a:p>
          <a:p>
            <a:r>
              <a:t>Others – 6452.00 Lacs</a:t>
            </a:r>
          </a:p>
          <a:p>
            <a:r>
              <a:t>LFS – 3341.25 Lacs</a:t>
            </a:r>
          </a:p>
          <a:p>
            <a:r>
              <a:t>MBO – 618.00 Lacs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EBO dominates business due to strong brand control and customer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Heavy dependence on EBO increases operational cost such as rent, staffing and store maintenance.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Strategy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Brand-owned outlets outperform partner channels across most regions.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6-Year Business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concentration in developed markets and major cities.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Penetration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South, East and North East regions remain largely untapped.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Market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consumers show stronger brand engagement and repeat purchases.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Risk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Geographic risk</a:t>
            </a:r>
          </a:p>
          <a:p>
            <a:r>
              <a:t>• Channel dependency</a:t>
            </a:r>
          </a:p>
          <a:p>
            <a:r>
              <a:t>• Limited emerging market penetration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Opportunity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Regional expansion</a:t>
            </a:r>
          </a:p>
          <a:p>
            <a:r>
              <a:t>• Channel diversification</a:t>
            </a:r>
          </a:p>
          <a:p>
            <a:r>
              <a:t>• Dealer network strengthening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India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like Bangalore, Chennai and Hyderabad show strong retail potential.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East India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Kolkata and surrounding markets offer emerging consumer demand.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Tier-2 Expansion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high population tier‑2 cities for faster retail growth.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Improvement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data analytics to optimize store placement and inventory.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Diversification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Shop‑in‑Shop partnerships and strengthen MBO network.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Expand outside North Zone</a:t>
            </a:r>
          </a:p>
          <a:p>
            <a:r>
              <a:t>• Strengthen retail partnerships</a:t>
            </a:r>
          </a:p>
          <a:p>
            <a:r>
              <a:t>• Increase marketing in emerging regions</a:t>
            </a:r>
          </a:p>
          <a:p>
            <a:r>
              <a:t>• Use analytics-driven expansion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Zone currently drives business success but diversification across regions and channels will be critical for long-term sustainable growth.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States (Table View)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 (Lacs)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7084.88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Punjab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5268.72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Haryana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3659.01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UP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2982.23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Chandigarh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2048.38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